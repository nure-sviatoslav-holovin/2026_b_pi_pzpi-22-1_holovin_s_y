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Economica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8" name="Роксана Мельнікова"/>
  <p:cmAuthor clrIdx="1" id="1" initials="" lastIdx="3" name="Святослав Головін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475FA27-9C6E-4AA5-BA09-F65D73992163}">
  <a:tblStyle styleId="{6475FA27-9C6E-4AA5-BA09-F65D739921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Economica-regular.fntdata"/><Relationship Id="rId21" Type="http://schemas.openxmlformats.org/officeDocument/2006/relationships/slide" Target="slides/slide14.xml"/><Relationship Id="rId24" Type="http://schemas.openxmlformats.org/officeDocument/2006/relationships/font" Target="fonts/Economica-italic.fntdata"/><Relationship Id="rId23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OpenSans-regular.fntdata"/><Relationship Id="rId25" Type="http://schemas.openxmlformats.org/officeDocument/2006/relationships/font" Target="fonts/Economica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font" Target="fonts/OpenSa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20T10:51:58.631">
    <p:pos x="1767" y="517"/>
    <p:text>без дефісу у наказі
1 total reaction
Святослав Головін reacted with 👍 at 2026-06-20 10:51 дп</p:text>
  </p:cm>
  <p:cm authorId="0" idx="2" dt="2026-06-20T10:52:04.373">
    <p:pos x="549" y="2251"/>
    <p:text>прохання коментарі не видаляти, просто прокоментувати  або внести правки
1 total reaction
Святослав Головін reacted with 👍 at 2026-06-20 10:52 дп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6-20T10:54:13.709">
    <p:pos x="196" y="563"/>
    <p:text>які критерії заміру цього покажчика:)?</p:text>
  </p:cm>
  <p:cm authorId="1" idx="1" dt="2026-06-20T10:54:13.709">
    <p:pos x="196" y="563"/>
    <p:text>Зазвичай такі додатки спрямовані на вивчення обмеженої кількості фіксованих дисциплін, тому є недостатньо універсальними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6-20T10:55:03.215">
    <p:pos x="196" y="597"/>
    <p:text>створення чи додавання?</p:text>
  </p:cm>
  <p:cm authorId="1" idx="2" dt="2026-06-20T10:55:03.215">
    <p:pos x="196" y="597"/>
    <p:text>додавання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6-20T10:57:05.390">
    <p:pos x="3031" y="536"/>
    <p:text>якщо цей скрін буде мати границі - то його буде легше "зрозуміти" на мій погляд
1 total reaction
Святослав Головін reacted with 👍 at 2026-06-20 10:57 дп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6-20T10:59:12.798">
    <p:pos x="169" y="-96"/>
    <p:text>зазвичай тут наводиться самий складний(корисний) алгоритм, що демонструє глибину програмної реалізації.</p:text>
  </p:cm>
  <p:cm authorId="1" idx="3" dt="2026-06-20T10:59:12.798">
    <p:pos x="169" y="-96"/>
    <p:text>Сам алгоритм роботи з оновленням сесії є складним і корисним, на слайді складно вставити весь код, тому я демонструю лише частину його, а голосом проговорю більш детально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6-20T10:59:17.032">
    <p:pos x="1214" y="528"/>
    <p:text>якщо цей скрін буде мати границі - то його буде легше "зрозуміти" на мій погляд
1 total reaction
Святослав Головін reacted with 👍 at 2026-06-20 10:59 дп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6-20T10:59:24.149">
    <p:pos x="712" y="481"/>
    <p:text>якщо цей скрін буде мати границі - то його буде легше "зрозуміти" на мій погляд
1 total reaction
Святослав Головін reacted with 👍 at 2026-06-20 10:59 дп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bd76d946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ebd76d94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2" name="Google Shape;22;p4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3.xm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4.xml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5.xml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6.xml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7.xml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805450" y="821300"/>
            <a:ext cx="3281100" cy="14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2400"/>
              <a:t>Ве</a:t>
            </a:r>
            <a:r>
              <a:rPr lang="uk" sz="2400"/>
              <a:t>бс</a:t>
            </a:r>
            <a:r>
              <a:rPr lang="uk" sz="2400"/>
              <a:t>истема для мікрольорнінгу з елементами гейміфікації</a:t>
            </a:r>
            <a:endParaRPr sz="24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872550" y="3574475"/>
            <a:ext cx="5528700" cy="14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2941"/>
              <a:buNone/>
            </a:pPr>
            <a:r>
              <a:t/>
            </a:r>
            <a:endParaRPr sz="2400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698"/>
              <a:buNone/>
            </a:pPr>
            <a:r>
              <a:rPr lang="uk" sz="3761"/>
              <a:t>Головін </a:t>
            </a:r>
            <a:r>
              <a:rPr lang="uk" sz="3761"/>
              <a:t>Святослав </a:t>
            </a:r>
            <a:r>
              <a:rPr lang="uk" sz="3761"/>
              <a:t>Юрійович, ПЗПІ-22-1 </a:t>
            </a:r>
            <a:endParaRPr sz="3761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698"/>
              <a:buNone/>
            </a:pPr>
            <a:r>
              <a:rPr lang="uk" sz="3761"/>
              <a:t>Керівник: </a:t>
            </a:r>
            <a:r>
              <a:rPr lang="uk" sz="3761"/>
              <a:t>доц. каф. ПІ Мельнікова Роксана Валеріївна</a:t>
            </a:r>
            <a:endParaRPr sz="376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9133"/>
              <a:buNone/>
            </a:pPr>
            <a:r>
              <a:rPr lang="uk" sz="3574"/>
              <a:t>01 липня 2026</a:t>
            </a:r>
            <a:endParaRPr sz="3574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937425"/>
            <a:ext cx="8520600" cy="3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uk" sz="1400"/>
              <a:t>Розробити вебсистему мікрольорнінгу з елементами гейміфікації, яка забезпечує створення та проходження коротких навчальних одиниць, відстеження прогресу користувачів і підтримку мотивації протягом навчального процесу.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/>
              <a:t>Актуальність роботи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Зростає потреба у зручних цифрових інструментах для організації навчання.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Традиційні освітні платформи часто потребують значних часових витрат і можуть знижувати мотивацію користувачів.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Мікрольорнінг дозволяє подавати матеріал короткими навчальними одиницями.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Гейміфікація через бейджі, серії активності, прогрес і сповіщення підтримує регулярність навчання.</a:t>
            </a:r>
            <a:endParaRPr sz="1400"/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Мета роботи</a:t>
            </a:r>
            <a:endParaRPr sz="3200"/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Аналіз проблеми (аналіз існуючих рішень) </a:t>
            </a:r>
            <a:endParaRPr sz="32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894750"/>
            <a:ext cx="4947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Duolingo</a:t>
            </a:r>
            <a:r>
              <a:rPr lang="uk" sz="1400"/>
              <a:t> - мікроуроки, бали, рівні та серії активності.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BetterMe</a:t>
            </a:r>
            <a:r>
              <a:rPr lang="uk" sz="1400"/>
              <a:t> - короткі завдання, персоналізація та нагадування.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Headway</a:t>
            </a:r>
            <a:r>
              <a:rPr lang="uk" sz="1400"/>
              <a:t> - короткі текстові й аудіоматеріали для щоденного навчання.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/>
              <a:t>Основні прогалини аналогів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вузька тематична спрямованість;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обмежене створення власного контенту;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недостатня універсальність;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обмежена інтерактивність та аналітика;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залежність повного функціоналу від підписки.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8400" y="889500"/>
            <a:ext cx="403860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948688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/>
              <a:t>Задача роботи:</a:t>
            </a:r>
            <a:br>
              <a:rPr b="1" lang="uk" sz="1400"/>
            </a:br>
            <a:r>
              <a:rPr lang="uk" sz="1400"/>
              <a:t>Розробити веб-систему мікрольорнінгу з елементами гейміфікації, що включає front end, back end і реляційну базу даних.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400"/>
              <a:t>Опис системи та очікувані результати: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три ролі користувачів: адміністратор, викладач, учень;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додавання курсів, уроків, </a:t>
            </a:r>
            <a:r>
              <a:rPr lang="uk" sz="1400"/>
              <a:t>транскрипцій</a:t>
            </a:r>
            <a:r>
              <a:rPr lang="uk" sz="1400"/>
              <a:t> і тестів;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проходження навчання та облік результатів;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відображення прогресу й аналітики;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бейджі, серії активності та WhatsApp-сповіщення.</a:t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Постановка задачі та опис системи</a:t>
            </a:r>
            <a:endParaRPr sz="3200"/>
          </a:p>
        </p:txBody>
      </p:sp>
      <p:pic>
        <p:nvPicPr>
          <p:cNvPr id="90" name="Google Shape;9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Вибір технологій розробки </a:t>
            </a:r>
            <a:endParaRPr sz="3200"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225225"/>
            <a:ext cx="53607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400"/>
              <a:t>У роботі використано сучасний стек веб-технологій: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React.js</a:t>
            </a:r>
            <a:r>
              <a:rPr lang="uk" sz="1400"/>
              <a:t> - створення інтерактивного SPA-інтерфейсу;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Node.js та Express.js</a:t>
            </a:r>
            <a:r>
              <a:rPr lang="uk" sz="1400"/>
              <a:t> - реалізація серверної логіки й API;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PostgreSQL</a:t>
            </a:r>
            <a:r>
              <a:rPr lang="uk" sz="1400"/>
              <a:t> - зберігання даних користувачів, курсів, прогресу та гейміфікації;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Shadcn/ui та Tailwind CSS</a:t>
            </a:r>
            <a:r>
              <a:rPr lang="uk" sz="1400"/>
              <a:t> - побудова сучасного й зручного інтерфейсу;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Twilio API</a:t>
            </a:r>
            <a:r>
              <a:rPr lang="uk" sz="1400"/>
              <a:t> - надсилання WhatsApp-сповіщень;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Vitest</a:t>
            </a:r>
            <a:r>
              <a:rPr lang="uk" sz="1400"/>
              <a:t> - модульне тестування front end частини.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1050" y="1754003"/>
            <a:ext cx="3166800" cy="17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Архітектура </a:t>
            </a:r>
            <a:r>
              <a:rPr lang="uk" sz="3200"/>
              <a:t>створеного</a:t>
            </a:r>
            <a:r>
              <a:rPr lang="uk" sz="3200"/>
              <a:t> програмного забезпечення</a:t>
            </a:r>
            <a:endParaRPr sz="3200"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11625" y="1234100"/>
            <a:ext cx="3408300" cy="3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400"/>
              <a:t>Система побудована за клієнт-серверною архітектурою та складається з таких компонентів: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Клієнтська частина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Серверна частина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База даних PostgreSQL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uk" sz="1400"/>
              <a:t>Зовнішній сервіс WhatsApp (Twilio API)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9866" y="1234111"/>
            <a:ext cx="5342443" cy="267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949800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400"/>
              <a:t>Розробка програмного забезпечення виконувалася поетапно: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проєктування ролей користувачів: адміністратора, викладача та учня;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створення архітектури клієнт-серверної веб-системи;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проєктування реляційної бази даних для курсів, уроків, тестів, прогресу та гейміфікації;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реалізація серверної логіки: авторизації, керування курсами, тестування, прогресу й аналітики;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створення веб-інтерфейсів для кожної ролі користувача;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додавання мотиваційних механік: бейджів, серій активності та WhatsApp-сповіщень;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проведення модульного, інтеграційного та мануального тестування.</a:t>
            </a:r>
            <a:endParaRPr sz="14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15" name="Google Shape;115;p19"/>
          <p:cNvSpPr txBox="1"/>
          <p:nvPr>
            <p:ph type="title"/>
          </p:nvPr>
        </p:nvSpPr>
        <p:spPr>
          <a:xfrm>
            <a:off x="311700" y="312400"/>
            <a:ext cx="8520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Етапи створення програмного забезпечення</a:t>
            </a:r>
            <a:endParaRPr sz="3200"/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Дизайн системи</a:t>
            </a:r>
            <a:endParaRPr sz="3200"/>
          </a:p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311700" y="739250"/>
            <a:ext cx="45630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/>
              <a:t>Методи проєктування: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uk" sz="1200"/>
              <a:t>розмежування інтерфейсів за ролями користувачів;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uk" sz="1200"/>
              <a:t>логічне групування функцій за розділами;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uk" sz="1200"/>
              <a:t>використання бокової навігації;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uk" sz="1200"/>
              <a:t>візуальне виділення ключових дій, статусів і прогресу.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200"/>
              <a:t>Послідовність розробки дизайну: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uk" sz="1200"/>
              <a:t>визначення основних сценаріїв для адміністратора, викладача та учня;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uk" sz="1200"/>
              <a:t>створення структури сторінок і навігації;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uk" sz="1200"/>
              <a:t>розробка інтерфейсів для курсів, уроків, прогресу, аналітики та налаштувань;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●"/>
            </a:pPr>
            <a:r>
              <a:rPr lang="uk" sz="1200"/>
              <a:t>перевірка зручності виконання основних дій.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1850" y="851450"/>
            <a:ext cx="4250450" cy="3129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127" name="Google Shape;127;p20"/>
          <p:cNvSpPr txBox="1"/>
          <p:nvPr/>
        </p:nvSpPr>
        <p:spPr>
          <a:xfrm>
            <a:off x="1375275" y="4147150"/>
            <a:ext cx="3000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Технології:</a:t>
            </a:r>
            <a:br>
              <a:rPr b="1" lang="uk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uk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Shadcn/ui, Tailwind CSS, додаткові стилі.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Приклад </a:t>
            </a:r>
            <a:r>
              <a:rPr lang="uk" sz="3200"/>
              <a:t>реалізації</a:t>
            </a:r>
            <a:endParaRPr sz="3200"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39225" y="1005500"/>
            <a:ext cx="36003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uk" sz="1600"/>
              <a:t>Фрагмент коду демонструє оновлення серії активності користувача. Якщо користувач уже був активним сьогодні, серія не змінюється. Якщо остання активність була вчора - серія збільшується на один день. Якщо між активностями був пропуск, серія починається заново.</a:t>
            </a:r>
            <a:endParaRPr sz="1600"/>
          </a:p>
        </p:txBody>
      </p:sp>
      <p:pic>
        <p:nvPicPr>
          <p:cNvPr id="134" name="Google Shape;1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2500" y="841450"/>
            <a:ext cx="4729801" cy="34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Інтерфейс користувача </a:t>
            </a:r>
            <a:endParaRPr sz="3200"/>
          </a:p>
        </p:txBody>
      </p:sp>
      <p:pic>
        <p:nvPicPr>
          <p:cNvPr id="142" name="Google Shape;1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/>
          <p:nvPr/>
        </p:nvSpPr>
        <p:spPr>
          <a:xfrm>
            <a:off x="8629055" y="4606350"/>
            <a:ext cx="43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8754" y="838200"/>
            <a:ext cx="5286493" cy="376815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Інтерфейс користувача </a:t>
            </a:r>
            <a:endParaRPr sz="3200"/>
          </a:p>
        </p:txBody>
      </p:sp>
      <p:pic>
        <p:nvPicPr>
          <p:cNvPr id="150" name="Google Shape;1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 txBox="1"/>
          <p:nvPr/>
        </p:nvSpPr>
        <p:spPr>
          <a:xfrm>
            <a:off x="8587799" y="4606350"/>
            <a:ext cx="47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1175" y="764800"/>
            <a:ext cx="7483525" cy="35280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Тестування</a:t>
            </a:r>
            <a:endParaRPr sz="3200"/>
          </a:p>
        </p:txBody>
      </p:sp>
      <p:pic>
        <p:nvPicPr>
          <p:cNvPr id="158" name="Google Shape;1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/>
        </p:nvSpPr>
        <p:spPr>
          <a:xfrm>
            <a:off x="8670328" y="4647175"/>
            <a:ext cx="39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0" name="Google Shape;160;p24"/>
          <p:cNvGraphicFramePr/>
          <p:nvPr/>
        </p:nvGraphicFramePr>
        <p:xfrm>
          <a:off x="952500" y="109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{6475FA27-9C6E-4AA5-BA09-F65D73992163}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Вид тестування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Що перевірялося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Результат</a:t>
                      </a:r>
                      <a:endParaRPr b="1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Модульне тестування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Окремі функції клієнтської частини, обробка даних та станів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Функції працюють коректно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Інтеграційне тестування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Маршрути back end, авторизація, взаємодія з моделями даних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Запити обробляються правильно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Мануальне тестування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Основні сценарії для учня, викладача й адміністратора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Сценарії виконуються успішно</a:t>
                      </a:r>
                      <a:endParaRPr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311700" y="1225225"/>
            <a:ext cx="33528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 sz="1600"/>
              <a:t>Результати кваліфікаційної роботи були представлені та опубліковані як тези на конференції </a:t>
            </a:r>
            <a:r>
              <a:rPr b="1" lang="uk" sz="1600"/>
              <a:t>MIT&amp;AISs-2026</a:t>
            </a:r>
            <a:r>
              <a:rPr lang="uk" sz="1600"/>
              <a:t>.</a:t>
            </a:r>
            <a:endParaRPr sz="1600"/>
          </a:p>
        </p:txBody>
      </p:sp>
      <p:sp>
        <p:nvSpPr>
          <p:cNvPr id="166" name="Google Shape;166;p25"/>
          <p:cNvSpPr txBox="1"/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Публікація результатів </a:t>
            </a:r>
            <a:endParaRPr sz="3200"/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/>
          <p:nvPr/>
        </p:nvSpPr>
        <p:spPr>
          <a:xfrm>
            <a:off x="8615305" y="4660950"/>
            <a:ext cx="44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9300" y="761624"/>
            <a:ext cx="4646004" cy="389932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Підсумки </a:t>
            </a:r>
            <a:endParaRPr sz="3200"/>
          </a:p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311700" y="900750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uk" sz="1400"/>
              <a:t>У результаті роботи розроблено веб-систему мікрольорнінгу з елементами гейміфікації, що включає front end, back end і реляційну базу даних.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uk" sz="1400"/>
              <a:t>Основні результати:</a:t>
            </a:r>
            <a:endParaRPr b="1" sz="1400"/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реалізовано ролі адміністратора, викладача та учня;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забезпечено створення й проходження навчальних курсів;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додано облік прогресу, аналітику, бейджі, серії активності та WhatsApp-сповіщення.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b="1" lang="uk" sz="1400"/>
              <a:t>Основною можливістю для використання є самоосвіта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b="1" lang="uk" sz="1400"/>
              <a:t>Можливий розвиток:</a:t>
            </a:r>
            <a:endParaRPr b="1" sz="1400"/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розширення аналітики;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uk" sz="1400"/>
              <a:t>додавання нових типів контенту та методів самоперевірки.</a:t>
            </a:r>
            <a:endParaRPr sz="1400"/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400"/>
          </a:p>
        </p:txBody>
      </p:sp>
      <p:pic>
        <p:nvPicPr>
          <p:cNvPr id="176" name="Google Shape;1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 txBox="1"/>
          <p:nvPr/>
        </p:nvSpPr>
        <p:spPr>
          <a:xfrm>
            <a:off x="8656578" y="4660950"/>
            <a:ext cx="40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
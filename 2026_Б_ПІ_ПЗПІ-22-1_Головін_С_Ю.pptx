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comments+xml" PartName="/ppt/comments/comment5.xml"/>
  <Override ContentType="application/vnd.openxmlformats-officedocument.presentationml.comments+xml" PartName="/ppt/comments/comment6.xml"/>
  <Override ContentType="application/vnd.openxmlformats-officedocument.presentationml.comments+xml" PartName="/ppt/comments/comment7.xml"/>
  <Override ContentType="application/vnd.openxmlformats-officedocument.presentationml.comments+xml" PartName="/ppt/comments/comment4.xml"/>
  <Override ContentType="application/vnd.openxmlformats-officedocument.presentationml.comments+xml" PartName="/ppt/comments/comment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y="5143500" cx="9144000"/>
  <p:notesSz cx="6858000" cy="9144000"/>
  <p:embeddedFontLst>
    <p:embeddedFont>
      <p:font typeface="Economica"/>
      <p:regular r:id="rId22"/>
      <p:bold r:id="rId23"/>
      <p:italic r:id="rId24"/>
      <p:boldItalic r:id="rId25"/>
    </p:embeddedFont>
    <p:embeddedFont>
      <p:font typeface="Open Sans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8" name="Роксана Мельнікова"/>
  <p:cmAuthor clrIdx="1" id="1" initials="" lastIdx="3" name="Святослав Головін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981542A-8AB8-48DC-9127-ACD5C695F5E1}">
  <a:tblStyle styleId="{4981542A-8AB8-48DC-9127-ACD5C695F5E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font" Target="fonts/Economica-regular.fntdata"/><Relationship Id="rId21" Type="http://schemas.openxmlformats.org/officeDocument/2006/relationships/slide" Target="slides/slide14.xml"/><Relationship Id="rId24" Type="http://schemas.openxmlformats.org/officeDocument/2006/relationships/font" Target="fonts/Economica-italic.fntdata"/><Relationship Id="rId23" Type="http://schemas.openxmlformats.org/officeDocument/2006/relationships/font" Target="fonts/Economica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font" Target="fonts/OpenSans-regular.fntdata"/><Relationship Id="rId25" Type="http://schemas.openxmlformats.org/officeDocument/2006/relationships/font" Target="fonts/Economica-boldItalic.fntdata"/><Relationship Id="rId28" Type="http://schemas.openxmlformats.org/officeDocument/2006/relationships/font" Target="fonts/OpenSans-italic.fntdata"/><Relationship Id="rId27" Type="http://schemas.openxmlformats.org/officeDocument/2006/relationships/font" Target="fonts/OpenSans-bold.fntdata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29" Type="http://schemas.openxmlformats.org/officeDocument/2006/relationships/font" Target="fonts/OpenSans-boldItalic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20T10:51:58.631">
    <p:pos x="1767" y="517"/>
    <p:text>без дефісу у наказі
1 total reaction
Святослав Головін reacted with 👍 at 2026-06-20 10:51 дп</p:text>
  </p:cm>
  <p:cm authorId="0" idx="2" dt="2026-06-20T10:52:04.373">
    <p:pos x="549" y="2183"/>
    <p:text>прохання коментарі не видаляти, просто прокоментувати  або внести правки
1 total reaction
Святослав Головін reacted with 👍 at 2026-06-20 10:52 дп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6-06-20T10:54:13.709">
    <p:pos x="196" y="563"/>
    <p:text>які критерії заміру цього покажчика:)?</p:text>
  </p:cm>
  <p:cm authorId="1" idx="1" dt="2026-06-20T10:54:13.709">
    <p:pos x="196" y="563"/>
    <p:text>Зазвичай такі додатки спрямовані на вивчення обмеженої кількості фіксованих дисциплін, тому є недостатньо універсальними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6-06-20T10:55:03.215">
    <p:pos x="196" y="597"/>
    <p:text>створення чи додавання?</p:text>
  </p:cm>
  <p:cm authorId="1" idx="2" dt="2026-06-20T10:55:03.215">
    <p:pos x="196" y="597"/>
    <p:text>додавання</p:tex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5" dt="2026-06-20T10:59:12.798">
    <p:pos x="169" y="-96"/>
    <p:text>зазвичай тут наводиться самий складний(корисний) алгоритм, що демонструє глибину програмної реалізації.</p:text>
  </p:cm>
  <p:cm authorId="1" idx="3" dt="2026-06-20T10:59:12.798">
    <p:pos x="169" y="-96"/>
    <p:text>Сам алгоритм роботи з оновленням сесії є складним і корисним, на слайді складно вставити весь код, тому я демонструю лише частину його, а голосом проговорю більш детально</p:text>
  </p:cm>
</p:cmLst>
</file>

<file path=ppt/comments/comment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6" dt="2026-06-20T10:57:05.390">
    <p:pos x="3031" y="536"/>
    <p:text>якщо цей скрін буде мати границі - то його буде легше "зрозуміти" на мій погляд
1 total reaction
Святослав Головін reacted with 👍 at 2026-06-20 10:57 дп</p:text>
  </p:cm>
</p:cmLst>
</file>

<file path=ppt/comments/comment6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7" dt="2026-06-20T10:59:17.032">
    <p:pos x="1214" y="528"/>
    <p:text>якщо цей скрін буде мати границі - то його буде легше "зрозуміти" на мій погляд
1 total reaction
Святослав Головін reacted with 👍 at 2026-06-20 10:59 дп</p:text>
  </p:cm>
</p:cmLst>
</file>

<file path=ppt/comments/comment7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8" dt="2026-06-20T10:59:24.149">
    <p:pos x="712" y="481"/>
    <p:text>якщо цей скрін буде мати границі - то його буде легше "зрозуміти" на мій погляд
1 total reaction
Святослав Головін reacted with 👍 at 2026-06-20 10:59 дп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bd76d946d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g3ebd76d94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 flipH="1">
            <a:off x="7595938" y="4602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22" name="Google Shape;22;p4"/>
          <p:cNvSpPr/>
          <p:nvPr/>
        </p:nvSpPr>
        <p:spPr>
          <a:xfrm flipH="1" rot="10800000">
            <a:off x="466425" y="35583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23" name="Google Shape;23;p4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8"/>
          <p:cNvSpPr txBox="1"/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9"/>
          <p:cNvSpPr txBox="1"/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" type="subTitle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" type="body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/>
        </p:txBody>
      </p:sp>
      <p:sp>
        <p:nvSpPr>
          <p:cNvPr id="50" name="Google Shape;50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1"/>
          <p:cNvSpPr txBox="1"/>
          <p:nvPr>
            <p:ph hasCustomPrompt="1" type="title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lux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comments" Target="../comments/comment2.xml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omments" Target="../comments/comment3.xml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comments" Target="../comments/comment4.xml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comments" Target="../comments/comment5.xml"/><Relationship Id="rId4" Type="http://schemas.openxmlformats.org/officeDocument/2006/relationships/image" Target="../media/image2.png"/><Relationship Id="rId5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comments" Target="../comments/comment6.xml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comments" Target="../comments/comment7.xml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/>
          <p:nvPr>
            <p:ph idx="1" type="subTitle"/>
          </p:nvPr>
        </p:nvSpPr>
        <p:spPr>
          <a:xfrm>
            <a:off x="872550" y="3467050"/>
            <a:ext cx="5528700" cy="14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71"/>
              <a:buFont typeface="Arial"/>
              <a:buNone/>
            </a:pPr>
            <a:r>
              <a:t/>
            </a:r>
            <a:endParaRPr sz="175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71"/>
              <a:buFont typeface="Arial"/>
              <a:buNone/>
            </a:pPr>
            <a:r>
              <a:rPr lang="uk" sz="1750"/>
              <a:t>Головін </a:t>
            </a:r>
            <a:r>
              <a:rPr lang="uk" sz="1750"/>
              <a:t>Святослав </a:t>
            </a:r>
            <a:r>
              <a:rPr lang="uk" sz="1750"/>
              <a:t>Юрійович, ПЗПІ-22-1 </a:t>
            </a:r>
            <a:endParaRPr sz="175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71"/>
              <a:buFont typeface="Arial"/>
              <a:buNone/>
            </a:pPr>
            <a:r>
              <a:rPr lang="uk" sz="1750"/>
              <a:t>Керівник: доц. каф. ПІ Мельнікова Роксана Валеріївна</a:t>
            </a:r>
            <a:endParaRPr sz="175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5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71"/>
              <a:buFont typeface="Arial"/>
              <a:buNone/>
            </a:pPr>
            <a:r>
              <a:t/>
            </a:r>
            <a:endParaRPr sz="1750"/>
          </a:p>
        </p:txBody>
      </p:sp>
      <p:sp>
        <p:nvSpPr>
          <p:cNvPr id="63" name="Google Shape;63;p13"/>
          <p:cNvSpPr txBox="1"/>
          <p:nvPr>
            <p:ph type="ctrTitle"/>
          </p:nvPr>
        </p:nvSpPr>
        <p:spPr>
          <a:xfrm>
            <a:off x="2805450" y="821300"/>
            <a:ext cx="3281100" cy="14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2400"/>
              <a:t>Ве</a:t>
            </a:r>
            <a:r>
              <a:rPr lang="uk" sz="2400"/>
              <a:t>бс</a:t>
            </a:r>
            <a:r>
              <a:rPr lang="uk" sz="2400"/>
              <a:t>истема для мікрольорнінгу з елементами гейміфікації</a:t>
            </a:r>
            <a:endParaRPr sz="2400"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3"/>
          <p:cNvSpPr txBox="1"/>
          <p:nvPr>
            <p:ph idx="1" type="subTitle"/>
          </p:nvPr>
        </p:nvSpPr>
        <p:spPr>
          <a:xfrm>
            <a:off x="872550" y="4086900"/>
            <a:ext cx="5528700" cy="10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uk" sz="1600"/>
              <a:t>01 липня 2026</a:t>
            </a:r>
            <a:endParaRPr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idx="1" type="body"/>
          </p:nvPr>
        </p:nvSpPr>
        <p:spPr>
          <a:xfrm>
            <a:off x="311700" y="937425"/>
            <a:ext cx="8520600" cy="35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uk" sz="1400"/>
              <a:t>Розробити вебсистему мікрольорнінгу з елементами гейміфікації, яка забезпечує створення та проходження коротких навчальних одиниць, відстеження прогресу користувачів і підтримку мотивації протягом навчального процесу.</a:t>
            </a:r>
            <a:endParaRPr b="1"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uk" sz="1400"/>
              <a:t>Актуальність роботи</a:t>
            </a:r>
            <a:endParaRPr b="1"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Зростає потреба у зручних цифрових інструментах для організації навчання.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Традиційні освітні платформи часто потребують значних часових витрат і можуть знижувати мотивацію користувачів.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Мікрольорнінг дозволяє подавати матеріал короткими навчальними одиницями.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Гейміфікація через бейджі, серії активності, прогрес і сповіщення підтримує регулярність навчання.</a:t>
            </a:r>
            <a:endParaRPr sz="1400"/>
          </a:p>
        </p:txBody>
      </p:sp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Мета роботи</a:t>
            </a:r>
            <a:endParaRPr sz="3200"/>
          </a:p>
        </p:txBody>
      </p:sp>
      <p:pic>
        <p:nvPicPr>
          <p:cNvPr id="74" name="Google Shape;7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4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 txBox="1"/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Аналіз проблеми (аналіз існуючих рішень) </a:t>
            </a:r>
            <a:endParaRPr sz="3200"/>
          </a:p>
        </p:txBody>
      </p:sp>
      <p:sp>
        <p:nvSpPr>
          <p:cNvPr id="81" name="Google Shape;81;p15"/>
          <p:cNvSpPr txBox="1"/>
          <p:nvPr>
            <p:ph idx="1" type="body"/>
          </p:nvPr>
        </p:nvSpPr>
        <p:spPr>
          <a:xfrm>
            <a:off x="311700" y="894750"/>
            <a:ext cx="49479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Duolingo</a:t>
            </a:r>
            <a:r>
              <a:rPr lang="uk" sz="1400"/>
              <a:t> - мікроуроки, бали, рівні та серії активності.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BetterMe</a:t>
            </a:r>
            <a:r>
              <a:rPr lang="uk" sz="1400"/>
              <a:t> - короткі завдання, персоналізація та нагадування.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Headway</a:t>
            </a:r>
            <a:r>
              <a:rPr lang="uk" sz="1400"/>
              <a:t> - короткі текстові й аудіоматеріали для щоденного навчання.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uk" sz="1400"/>
              <a:t>Основні прогалини аналогів</a:t>
            </a:r>
            <a:endParaRPr b="1"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вузька тематична спрямованість;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обмежене створення власного контенту;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недостатня універсальність;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обмежена інтерактивність та аналітика;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залежність повного функціоналу від підписки.</a:t>
            </a:r>
            <a:endParaRPr sz="1400"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 sz="1400">
              <a:solidFill>
                <a:srgbClr val="0D0D0D"/>
              </a:solidFill>
              <a:highlight>
                <a:srgbClr val="FFFFFF"/>
              </a:highlight>
            </a:endParaRPr>
          </a:p>
        </p:txBody>
      </p:sp>
      <p:pic>
        <p:nvPicPr>
          <p:cNvPr id="82" name="Google Shape;8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5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08400" y="889500"/>
            <a:ext cx="4038600" cy="353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 txBox="1"/>
          <p:nvPr>
            <p:ph idx="1" type="body"/>
          </p:nvPr>
        </p:nvSpPr>
        <p:spPr>
          <a:xfrm>
            <a:off x="311700" y="948688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uk" sz="1400"/>
              <a:t>Задача роботи:</a:t>
            </a:r>
            <a:br>
              <a:rPr b="1" lang="uk" sz="1400"/>
            </a:br>
            <a:r>
              <a:rPr lang="uk" sz="1400"/>
              <a:t>Розробити веб-систему мікрольорнінгу з елементами гейміфікації, що включає front end, back end і реляційну базу даних.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uk" sz="1400"/>
              <a:t>Опис системи та очікувані результати:</a:t>
            </a:r>
            <a:endParaRPr b="1"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три ролі користувачів: адміністратор, викладач, учень;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додавання курсів, уроків, </a:t>
            </a:r>
            <a:r>
              <a:rPr lang="uk" sz="1400"/>
              <a:t>транскрипцій</a:t>
            </a:r>
            <a:r>
              <a:rPr lang="uk" sz="1400"/>
              <a:t> і тестів;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проходження навчання та облік результатів;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відображення прогресу й аналітики;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бейджі, серії активності та WhatsApp-сповіщення.</a:t>
            </a:r>
            <a:endParaRPr sz="1400">
              <a:solidFill>
                <a:srgbClr val="0D0D0D"/>
              </a:solidFill>
              <a:highlight>
                <a:srgbClr val="FFFFFF"/>
              </a:highlight>
            </a:endParaRPr>
          </a:p>
        </p:txBody>
      </p:sp>
      <p:sp>
        <p:nvSpPr>
          <p:cNvPr id="90" name="Google Shape;90;p16"/>
          <p:cNvSpPr txBox="1"/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Постановка задачі та опис системи</a:t>
            </a:r>
            <a:endParaRPr sz="3200"/>
          </a:p>
        </p:txBody>
      </p:sp>
      <p:pic>
        <p:nvPicPr>
          <p:cNvPr id="91" name="Google Shape;91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6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/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Вибір технологій розробки </a:t>
            </a:r>
            <a:endParaRPr sz="3200"/>
          </a:p>
        </p:txBody>
      </p:sp>
      <p:sp>
        <p:nvSpPr>
          <p:cNvPr id="98" name="Google Shape;98;p17"/>
          <p:cNvSpPr txBox="1"/>
          <p:nvPr>
            <p:ph idx="1" type="body"/>
          </p:nvPr>
        </p:nvSpPr>
        <p:spPr>
          <a:xfrm>
            <a:off x="311700" y="1225225"/>
            <a:ext cx="53607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uk" sz="1400"/>
              <a:t>У роботі використано сучасний стек веб-технологій:</a:t>
            </a:r>
            <a:endParaRPr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React.js</a:t>
            </a:r>
            <a:r>
              <a:rPr lang="uk" sz="1400"/>
              <a:t> - створення інтерактивного SPA-інтерфейсу;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Node.js та Express.js</a:t>
            </a:r>
            <a:r>
              <a:rPr lang="uk" sz="1400"/>
              <a:t> - реалізація та тестування серверної логіки й API;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PostgreSQL</a:t>
            </a:r>
            <a:r>
              <a:rPr lang="uk" sz="1400"/>
              <a:t> - зберігання даних користувачів, курсів, прогресу та гейміфікації;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Shadcn/ui та Tailwind CSS</a:t>
            </a:r>
            <a:r>
              <a:rPr lang="uk" sz="1400"/>
              <a:t> - побудова сучасного й зручного інтерфейсу;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Twilio API</a:t>
            </a:r>
            <a:r>
              <a:rPr lang="uk" sz="1400"/>
              <a:t> - надсилання WhatsApp-сповіщень;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Vitest</a:t>
            </a:r>
            <a:r>
              <a:rPr lang="uk" sz="1400"/>
              <a:t> - модульне тестування front end частини.</a:t>
            </a:r>
            <a:endParaRPr sz="1400"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 sz="1400">
              <a:solidFill>
                <a:srgbClr val="0D0D0D"/>
              </a:solidFill>
              <a:highlight>
                <a:srgbClr val="FFFFFF"/>
              </a:highlight>
            </a:endParaRPr>
          </a:p>
        </p:txBody>
      </p:sp>
      <p:pic>
        <p:nvPicPr>
          <p:cNvPr id="99" name="Google Shape;9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7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11050" y="1754003"/>
            <a:ext cx="3166800" cy="178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/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Архітектура </a:t>
            </a:r>
            <a:r>
              <a:rPr lang="uk" sz="3200"/>
              <a:t>створеного</a:t>
            </a:r>
            <a:r>
              <a:rPr lang="uk" sz="3200"/>
              <a:t> програмного забезпечення</a:t>
            </a:r>
            <a:endParaRPr sz="3200"/>
          </a:p>
        </p:txBody>
      </p:sp>
      <p:sp>
        <p:nvSpPr>
          <p:cNvPr id="107" name="Google Shape;107;p18"/>
          <p:cNvSpPr txBox="1"/>
          <p:nvPr>
            <p:ph idx="1" type="body"/>
          </p:nvPr>
        </p:nvSpPr>
        <p:spPr>
          <a:xfrm>
            <a:off x="311625" y="1234100"/>
            <a:ext cx="3408300" cy="33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uk" sz="1400"/>
              <a:t>Система побудована за клієнт-серверною архітектурою та складається з таких компонентів:</a:t>
            </a:r>
            <a:endParaRPr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Клієнтська частина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Серверна частина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База даних PostgreSQL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Зовнішній сервіс WhatsApp (Twilio API)</a:t>
            </a:r>
            <a:endParaRPr b="1" sz="1400"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 sz="1400">
              <a:solidFill>
                <a:srgbClr val="0D0D0D"/>
              </a:solidFill>
              <a:highlight>
                <a:srgbClr val="FFFFFF"/>
              </a:highlight>
            </a:endParaRPr>
          </a:p>
        </p:txBody>
      </p:sp>
      <p:pic>
        <p:nvPicPr>
          <p:cNvPr id="108" name="Google Shape;10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19866" y="1234111"/>
            <a:ext cx="5342443" cy="2675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311700" y="312400"/>
            <a:ext cx="2898900" cy="10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Схема бази даних</a:t>
            </a:r>
            <a:endParaRPr sz="3200"/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9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" name="Google Shape;118;p19"/>
          <p:cNvPicPr preferRelativeResize="0"/>
          <p:nvPr/>
        </p:nvPicPr>
        <p:blipFill rotWithShape="1">
          <a:blip r:embed="rId4">
            <a:alphaModFix/>
          </a:blip>
          <a:srcRect b="0" l="0" r="20000" t="0"/>
          <a:stretch/>
        </p:blipFill>
        <p:spPr>
          <a:xfrm>
            <a:off x="2969275" y="132575"/>
            <a:ext cx="5286375" cy="478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0"/>
          <p:cNvSpPr txBox="1"/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Приклад </a:t>
            </a:r>
            <a:r>
              <a:rPr lang="uk" sz="3200"/>
              <a:t>реалізації</a:t>
            </a:r>
            <a:endParaRPr sz="3200"/>
          </a:p>
        </p:txBody>
      </p:sp>
      <p:sp>
        <p:nvSpPr>
          <p:cNvPr id="124" name="Google Shape;124;p20"/>
          <p:cNvSpPr txBox="1"/>
          <p:nvPr>
            <p:ph idx="1" type="body"/>
          </p:nvPr>
        </p:nvSpPr>
        <p:spPr>
          <a:xfrm>
            <a:off x="339225" y="1005500"/>
            <a:ext cx="36003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uk" sz="1600"/>
              <a:t>Фрагмент коду демонструє оновлення серії активності користувача. Якщо користувач уже був активним сьогодні, серія не змінюється. Якщо остання активність була вчора - серія збільшується на один день. Якщо між активностями був пропуск, серія починається заново.</a:t>
            </a:r>
            <a:endParaRPr sz="1600"/>
          </a:p>
        </p:txBody>
      </p:sp>
      <p:pic>
        <p:nvPicPr>
          <p:cNvPr id="125" name="Google Shape;125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0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7" name="Google Shape;127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02500" y="841450"/>
            <a:ext cx="4729801" cy="346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/>
          <p:nvPr>
            <p:ph type="title"/>
          </p:nvPr>
        </p:nvSpPr>
        <p:spPr>
          <a:xfrm>
            <a:off x="311700" y="-9203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Дизайн системи</a:t>
            </a:r>
            <a:endParaRPr sz="3200"/>
          </a:p>
        </p:txBody>
      </p:sp>
      <p:sp>
        <p:nvSpPr>
          <p:cNvPr id="133" name="Google Shape;133;p21"/>
          <p:cNvSpPr txBox="1"/>
          <p:nvPr>
            <p:ph idx="1" type="body"/>
          </p:nvPr>
        </p:nvSpPr>
        <p:spPr>
          <a:xfrm>
            <a:off x="311700" y="739250"/>
            <a:ext cx="45630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uk" sz="1200"/>
              <a:t>Методи проєктування:</a:t>
            </a:r>
            <a:endParaRPr b="1" sz="1200"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розмежування інтерфейсів за ролями користувачів;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логічне групування функцій за розділами;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використання бокової навігації;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візуальне виділення ключових дій, статусів і прогресу.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uk" sz="1200"/>
              <a:t>Послідовність розробки дизайну:</a:t>
            </a:r>
            <a:endParaRPr b="1" sz="1200"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визначення основних сценаріїв для адміністратора, викладача та учня;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створення структури сторінок і навігації;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розробка інтерфейсів для курсів, уроків, прогресу, аналітики та налаштувань;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перевірка зручності виконання основних дій.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200"/>
          </a:p>
        </p:txBody>
      </p:sp>
      <p:pic>
        <p:nvPicPr>
          <p:cNvPr id="134" name="Google Shape;13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1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6" name="Google Shape;136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11850" y="851450"/>
            <a:ext cx="4250450" cy="3129600"/>
          </a:xfrm>
          <a:prstGeom prst="rect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sm" w="sm" type="none"/>
            <a:tailEnd len="sm" w="sm" type="none"/>
          </a:ln>
        </p:spPr>
      </p:pic>
      <p:sp>
        <p:nvSpPr>
          <p:cNvPr id="137" name="Google Shape;137;p21"/>
          <p:cNvSpPr txBox="1"/>
          <p:nvPr/>
        </p:nvSpPr>
        <p:spPr>
          <a:xfrm>
            <a:off x="1375275" y="4147150"/>
            <a:ext cx="3000000" cy="79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uk"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Технології:</a:t>
            </a:r>
            <a:br>
              <a:rPr b="1" lang="uk"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</a:br>
            <a:r>
              <a:rPr lang="uk"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Shadcn/ui, Tailwind CSS, додаткові стилі.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2"/>
          <p:cNvSpPr txBox="1"/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Інтерфейс користувача </a:t>
            </a:r>
            <a:endParaRPr sz="3200"/>
          </a:p>
        </p:txBody>
      </p:sp>
      <p:pic>
        <p:nvPicPr>
          <p:cNvPr id="143" name="Google Shape;14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2"/>
          <p:cNvSpPr txBox="1"/>
          <p:nvPr/>
        </p:nvSpPr>
        <p:spPr>
          <a:xfrm>
            <a:off x="8629055" y="4606350"/>
            <a:ext cx="43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" name="Google Shape;145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28754" y="838200"/>
            <a:ext cx="5286493" cy="3768150"/>
          </a:xfrm>
          <a:prstGeom prst="rect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3"/>
          <p:cNvSpPr txBox="1"/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Інтерфейс користувача </a:t>
            </a:r>
            <a:endParaRPr sz="3200"/>
          </a:p>
        </p:txBody>
      </p:sp>
      <p:pic>
        <p:nvPicPr>
          <p:cNvPr id="151" name="Google Shape;15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3"/>
          <p:cNvSpPr txBox="1"/>
          <p:nvPr/>
        </p:nvSpPr>
        <p:spPr>
          <a:xfrm>
            <a:off x="8587799" y="4606350"/>
            <a:ext cx="474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" name="Google Shape;153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31175" y="764800"/>
            <a:ext cx="7483525" cy="3528075"/>
          </a:xfrm>
          <a:prstGeom prst="rect">
            <a:avLst/>
          </a:prstGeom>
          <a:noFill/>
          <a:ln cap="flat" cmpd="sng" w="28575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4"/>
          <p:cNvSpPr txBox="1"/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Тестування</a:t>
            </a:r>
            <a:endParaRPr sz="3200"/>
          </a:p>
        </p:txBody>
      </p:sp>
      <p:pic>
        <p:nvPicPr>
          <p:cNvPr id="159" name="Google Shape;15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4"/>
          <p:cNvSpPr txBox="1"/>
          <p:nvPr/>
        </p:nvSpPr>
        <p:spPr>
          <a:xfrm>
            <a:off x="8670328" y="4647175"/>
            <a:ext cx="392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1" name="Google Shape;161;p24"/>
          <p:cNvGraphicFramePr/>
          <p:nvPr/>
        </p:nvGraphicFramePr>
        <p:xfrm>
          <a:off x="952500" y="1008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{4981542A-8AB8-48DC-9127-ACD5C695F5E1}</a:tableStyleId>
              </a:tblPr>
              <a:tblGrid>
                <a:gridCol w="2413000"/>
                <a:gridCol w="2413000"/>
                <a:gridCol w="2413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Вид тестування</a:t>
                      </a:r>
                      <a:endParaRPr b="1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Що перевірялося</a:t>
                      </a:r>
                      <a:endParaRPr b="1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Результат</a:t>
                      </a:r>
                      <a:endParaRPr b="1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Модульне тестування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Окремі функції клієнтської частини, обробка даних та станів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Функції працюють коректно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Інтеграційне тестування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Маршрути back end, авторизація, взаємодія з моделями даних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Запити обробляються правильно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Мануальне тестування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Основні сценарії для учня, викладача й адміністратора та тестування роботи WhatsApp повідомлень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Сценарії виконуються успішно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5"/>
          <p:cNvSpPr txBox="1"/>
          <p:nvPr>
            <p:ph idx="1" type="body"/>
          </p:nvPr>
        </p:nvSpPr>
        <p:spPr>
          <a:xfrm>
            <a:off x="311700" y="1225225"/>
            <a:ext cx="33528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uk" sz="1600"/>
              <a:t>Результати кваліфікаційної роботи були представлені та опубліковані як тези на конференції </a:t>
            </a:r>
            <a:r>
              <a:rPr b="1" lang="uk" sz="1600"/>
              <a:t>MIT&amp;AISs-2026</a:t>
            </a:r>
            <a:r>
              <a:rPr lang="uk" sz="1600"/>
              <a:t>.</a:t>
            </a:r>
            <a:endParaRPr sz="1600"/>
          </a:p>
        </p:txBody>
      </p:sp>
      <p:sp>
        <p:nvSpPr>
          <p:cNvPr id="167" name="Google Shape;167;p25"/>
          <p:cNvSpPr txBox="1"/>
          <p:nvPr>
            <p:ph type="title"/>
          </p:nvPr>
        </p:nvSpPr>
        <p:spPr>
          <a:xfrm>
            <a:off x="268925" y="-186276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Публікація результатів </a:t>
            </a:r>
            <a:endParaRPr sz="3200"/>
          </a:p>
        </p:txBody>
      </p:sp>
      <p:pic>
        <p:nvPicPr>
          <p:cNvPr id="168" name="Google Shape;168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/>
          <p:cNvSpPr txBox="1"/>
          <p:nvPr/>
        </p:nvSpPr>
        <p:spPr>
          <a:xfrm>
            <a:off x="8615305" y="4660950"/>
            <a:ext cx="447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0" name="Google Shape;170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64500" y="802613"/>
            <a:ext cx="5116525" cy="3700726"/>
          </a:xfrm>
          <a:prstGeom prst="rect">
            <a:avLst/>
          </a:prstGeom>
          <a:noFill/>
          <a:ln cap="flat" cmpd="sng" w="28575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6"/>
          <p:cNvSpPr txBox="1"/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Підсумки </a:t>
            </a:r>
            <a:endParaRPr sz="3200"/>
          </a:p>
        </p:txBody>
      </p:sp>
      <p:sp>
        <p:nvSpPr>
          <p:cNvPr id="176" name="Google Shape;176;p26"/>
          <p:cNvSpPr txBox="1"/>
          <p:nvPr>
            <p:ph idx="1" type="body"/>
          </p:nvPr>
        </p:nvSpPr>
        <p:spPr>
          <a:xfrm>
            <a:off x="311700" y="900750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3"/>
              <a:buFont typeface="Arial"/>
              <a:buNone/>
            </a:pPr>
            <a:r>
              <a:rPr lang="uk" sz="1400"/>
              <a:t>У результаті роботи розроблено веб-систему мікрольорнінгу з елементами гейміфікації, що включає front end, back end і реляційну базу даних.</a:t>
            </a:r>
            <a:endParaRPr sz="140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3"/>
              <a:buFont typeface="Arial"/>
              <a:buNone/>
            </a:pPr>
            <a:r>
              <a:rPr b="1" lang="uk" sz="1400"/>
              <a:t>Основні результати:</a:t>
            </a:r>
            <a:endParaRPr b="1" sz="1400"/>
          </a:p>
          <a:p>
            <a:pPr indent="-31750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реалізовано ролі адміністратора, викладача та учня;</a:t>
            </a:r>
            <a:endParaRPr sz="1400"/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забезпечено створення й проходження навчальних курсів;</a:t>
            </a:r>
            <a:endParaRPr sz="1400"/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додано облік прогресу, аналітику, бейджі, серії активності та WhatsApp-сповіщення.</a:t>
            </a:r>
            <a:endParaRPr sz="140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853"/>
              <a:buNone/>
            </a:pPr>
            <a:r>
              <a:rPr b="1" lang="uk" sz="1400"/>
              <a:t>Основною можливістю для використання є самоосвіта</a:t>
            </a:r>
            <a:endParaRPr sz="140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3"/>
              <a:buFont typeface="Arial"/>
              <a:buNone/>
            </a:pPr>
            <a:r>
              <a:rPr b="1" lang="uk" sz="1400"/>
              <a:t>Можливий розвиток:</a:t>
            </a:r>
            <a:endParaRPr b="1" sz="1400"/>
          </a:p>
          <a:p>
            <a:pPr indent="-31750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розширення аналітики;</a:t>
            </a:r>
            <a:endParaRPr sz="1400"/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додавання нових типів контенту та методів самоперевірки.</a:t>
            </a:r>
            <a:endParaRPr sz="1400"/>
          </a:p>
          <a:p>
            <a:pPr indent="0" lvl="0" marL="0" rtl="0" algn="l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  <a:buSzPts val="1395"/>
              <a:buNone/>
            </a:pPr>
            <a:r>
              <a:t/>
            </a:r>
            <a:endParaRPr sz="1400"/>
          </a:p>
        </p:txBody>
      </p:sp>
      <p:pic>
        <p:nvPicPr>
          <p:cNvPr id="177" name="Google Shape;177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6"/>
          <p:cNvSpPr txBox="1"/>
          <p:nvPr/>
        </p:nvSpPr>
        <p:spPr>
          <a:xfrm>
            <a:off x="8656578" y="4660950"/>
            <a:ext cx="40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
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comments+xml" PartName="/ppt/comments/comment2.xml"/>
  <Override ContentType="application/vnd.openxmlformats-officedocument.presentationml.comments+xml" PartName="/ppt/comments/comment5.xml"/>
  <Override ContentType="application/vnd.openxmlformats-officedocument.presentationml.comments+xml" PartName="/ppt/comments/comment6.xml"/>
  <Override ContentType="application/vnd.openxmlformats-officedocument.presentationml.comments+xml" PartName="/ppt/comments/comment7.xml"/>
  <Override ContentType="application/vnd.openxmlformats-officedocument.presentationml.comments+xml" PartName="/ppt/comments/comment4.xml"/>
  <Override ContentType="application/vnd.openxmlformats-officedocument.presentationml.comments+xml" PartName="/ppt/comments/comment3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y="5143500" cx="9144000"/>
  <p:notesSz cx="6858000" cy="9144000"/>
  <p:embeddedFontLst>
    <p:embeddedFont>
      <p:font typeface="Economica"/>
      <p:regular r:id="rId22"/>
      <p:bold r:id="rId23"/>
      <p:italic r:id="rId24"/>
      <p:boldItalic r:id="rId25"/>
    </p:embeddedFont>
    <p:embeddedFont>
      <p:font typeface="Open Sans"/>
      <p:regular r:id="rId26"/>
      <p:bold r:id="rId27"/>
      <p:italic r:id="rId28"/>
      <p:boldItalic r:id="rId2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8" name="Роксана Мельнікова"/>
  <p:cmAuthor clrIdx="1" id="1" initials="" lastIdx="3" name="Святослав Головін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1F93A64-311C-41A1-828B-61A8842F337F}">
  <a:tblStyle styleId="{F1F93A64-311C-41A1-828B-61A8842F337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font" Target="fonts/Economica-regular.fntdata"/><Relationship Id="rId21" Type="http://schemas.openxmlformats.org/officeDocument/2006/relationships/slide" Target="slides/slide14.xml"/><Relationship Id="rId24" Type="http://schemas.openxmlformats.org/officeDocument/2006/relationships/font" Target="fonts/Economica-italic.fntdata"/><Relationship Id="rId23" Type="http://schemas.openxmlformats.org/officeDocument/2006/relationships/font" Target="fonts/Economica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26" Type="http://schemas.openxmlformats.org/officeDocument/2006/relationships/font" Target="fonts/OpenSans-regular.fntdata"/><Relationship Id="rId25" Type="http://schemas.openxmlformats.org/officeDocument/2006/relationships/font" Target="fonts/Economica-boldItalic.fntdata"/><Relationship Id="rId28" Type="http://schemas.openxmlformats.org/officeDocument/2006/relationships/font" Target="fonts/OpenSans-italic.fntdata"/><Relationship Id="rId27" Type="http://schemas.openxmlformats.org/officeDocument/2006/relationships/font" Target="fonts/OpenSans-bold.fntdata"/><Relationship Id="rId5" Type="http://schemas.openxmlformats.org/officeDocument/2006/relationships/commentAuthors" Target="commentAuthors.xml"/><Relationship Id="rId6" Type="http://schemas.openxmlformats.org/officeDocument/2006/relationships/slideMaster" Target="slideMasters/slideMaster1.xml"/><Relationship Id="rId29" Type="http://schemas.openxmlformats.org/officeDocument/2006/relationships/font" Target="fonts/OpenSans-boldItalic.fntdata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11" Type="http://schemas.openxmlformats.org/officeDocument/2006/relationships/slide" Target="slides/slide4.xml"/><Relationship Id="rId10" Type="http://schemas.openxmlformats.org/officeDocument/2006/relationships/slide" Target="slides/slide3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6-06-20T10:51:58.631">
    <p:pos x="1767" y="517"/>
    <p:text>без дефісу у наказі
1 total reaction
Святослав Головін reacted with 👍 at 2026-06-20 10:51 дп</p:text>
  </p:cm>
  <p:cm authorId="0" idx="2" dt="2026-06-20T10:52:04.373">
    <p:pos x="549" y="2183"/>
    <p:text>прохання коментарі не видаляти, просто прокоментувати  або внести правки
1 total reaction
Святослав Головін reacted with 👍 at 2026-06-20 10:52 дп</p:text>
  </p:cm>
</p:cmLst>
</file>

<file path=ppt/comments/comment2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3" dt="2026-06-20T10:54:13.709">
    <p:pos x="196" y="563"/>
    <p:text>які критерії заміру цього покажчика:)?</p:text>
  </p:cm>
  <p:cm authorId="1" idx="1" dt="2026-06-20T10:54:13.709">
    <p:pos x="196" y="563"/>
    <p:text>Зазвичай такі додатки спрямовані на вивчення обмеженої кількості фіксованих дисциплін, тому є недостатньо універсальними</p:text>
  </p:cm>
</p:cmLst>
</file>

<file path=ppt/comments/comment3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4" dt="2026-06-20T10:55:03.215">
    <p:pos x="196" y="597"/>
    <p:text>створення чи додавання?</p:text>
  </p:cm>
  <p:cm authorId="1" idx="2" dt="2026-06-20T10:55:03.215">
    <p:pos x="196" y="597"/>
    <p:text>додавання</p:text>
  </p:cm>
</p:cmLst>
</file>

<file path=ppt/comments/comment4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5" dt="2026-06-20T10:57:05.390">
    <p:pos x="3031" y="536"/>
    <p:text>якщо цей скрін буде мати границі - то його буде легше "зрозуміти" на мій погляд
1 total reaction
Святослав Головін reacted with 👍 at 2026-06-20 10:57 дп</p:text>
  </p:cm>
</p:cmLst>
</file>

<file path=ppt/comments/comment5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6" dt="2026-06-20T10:59:12.798">
    <p:pos x="169" y="-96"/>
    <p:text>зазвичай тут наводиться самий складний(корисний) алгоритм, що демонструє глибину програмної реалізації.</p:text>
  </p:cm>
  <p:cm authorId="1" idx="3" dt="2026-06-20T10:59:12.798">
    <p:pos x="169" y="-96"/>
    <p:text>Сам алгоритм роботи з оновленням сесії є складним і корисним, на слайді складно вставити весь код, тому я демонструю лише частину його, а голосом проговорю більш детально</p:text>
  </p:cm>
</p:cmLst>
</file>

<file path=ppt/comments/comment6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7" dt="2026-06-20T10:59:17.032">
    <p:pos x="1214" y="528"/>
    <p:text>якщо цей скрін буде мати границі - то його буде легше "зрозуміти" на мій погляд
1 total reaction
Святослав Головін reacted with 👍 at 2026-06-20 10:59 дп</p:text>
  </p:cm>
</p:cmLst>
</file>

<file path=ppt/comments/comment7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8" dt="2026-06-20T10:59:24.149">
    <p:pos x="712" y="481"/>
    <p:text>якщо цей скрін буде мати границі - то його буде легше "зрозуміти" на мій погляд
1 total reaction
Святослав Головін reacted with 👍 at 2026-06-20 10:59 дп</p:tex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" name="Google Shape;7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" name="Google Shape;7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5" name="Google Shape;9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3" name="Google Shape;113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1" name="Google Shape;121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1" name="Google Shape;13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0" name="Google Shape;14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ebd76d946d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" name="Google Shape;148;g3ebd76d946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6" name="Google Shape;15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3" name="Google Shape;173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756700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lt2"/>
            </a:solidFill>
            <a:prstDash val="solid"/>
            <a:miter lim="80"/>
            <a:headEnd len="sm" w="sm" type="none"/>
            <a:tailEnd len="sm" w="sm" type="none"/>
          </a:ln>
        </p:spPr>
      </p:sp>
      <p:sp>
        <p:nvSpPr>
          <p:cNvPr id="11" name="Google Shape;11;p2"/>
          <p:cNvSpPr/>
          <p:nvPr/>
        </p:nvSpPr>
        <p:spPr>
          <a:xfrm rot="10800000">
            <a:off x="5318350" y="3266725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lt2"/>
            </a:solidFill>
            <a:prstDash val="solid"/>
            <a:miter lim="80"/>
            <a:headEnd len="sm" w="sm" type="none"/>
            <a:tailEnd len="sm" w="sm" type="none"/>
          </a:ln>
        </p:spPr>
      </p:sp>
      <p:sp>
        <p:nvSpPr>
          <p:cNvPr id="12" name="Google Shape;12;p2"/>
          <p:cNvSpPr txBox="1"/>
          <p:nvPr>
            <p:ph type="ctrTitle"/>
          </p:nvPr>
        </p:nvSpPr>
        <p:spPr>
          <a:xfrm>
            <a:off x="3044700" y="1444255"/>
            <a:ext cx="3054600" cy="1537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3044700" y="3116580"/>
            <a:ext cx="3054600" cy="70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 flipH="1">
            <a:off x="7595938" y="460225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lt2"/>
            </a:solidFill>
            <a:prstDash val="solid"/>
            <a:miter lim="80"/>
            <a:headEnd len="sm" w="sm" type="none"/>
            <a:tailEnd len="sm" w="sm" type="none"/>
          </a:ln>
        </p:spPr>
      </p:sp>
      <p:sp>
        <p:nvSpPr>
          <p:cNvPr id="22" name="Google Shape;22;p4"/>
          <p:cNvSpPr/>
          <p:nvPr/>
        </p:nvSpPr>
        <p:spPr>
          <a:xfrm flipH="1" rot="10800000">
            <a:off x="466425" y="3558325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lt2"/>
            </a:solidFill>
            <a:prstDash val="solid"/>
            <a:miter lim="80"/>
            <a:headEnd len="sm" w="sm" type="none"/>
            <a:tailEnd len="sm" w="sm" type="none"/>
          </a:ln>
        </p:spPr>
      </p:sp>
      <p:sp>
        <p:nvSpPr>
          <p:cNvPr id="23" name="Google Shape;23;p4"/>
          <p:cNvSpPr txBox="1"/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" type="body"/>
          </p:nvPr>
        </p:nvSpPr>
        <p:spPr>
          <a:xfrm>
            <a:off x="311700" y="1225225"/>
            <a:ext cx="3999900" cy="3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5"/>
          <p:cNvSpPr txBox="1"/>
          <p:nvPr>
            <p:ph idx="2" type="body"/>
          </p:nvPr>
        </p:nvSpPr>
        <p:spPr>
          <a:xfrm>
            <a:off x="4832400" y="1225225"/>
            <a:ext cx="3999900" cy="3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311700" y="1399400"/>
            <a:ext cx="2808000" cy="27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6" name="Google Shape;36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8"/>
          <p:cNvSpPr txBox="1"/>
          <p:nvPr>
            <p:ph type="title"/>
          </p:nvPr>
        </p:nvSpPr>
        <p:spPr>
          <a:xfrm>
            <a:off x="490250" y="450150"/>
            <a:ext cx="5878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40" name="Google Shape;40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9"/>
          <p:cNvSpPr txBox="1"/>
          <p:nvPr>
            <p:ph type="title"/>
          </p:nvPr>
        </p:nvSpPr>
        <p:spPr>
          <a:xfrm>
            <a:off x="265500" y="929275"/>
            <a:ext cx="4045200" cy="1786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45" name="Google Shape;45;p9"/>
          <p:cNvSpPr txBox="1"/>
          <p:nvPr>
            <p:ph idx="1" type="subTitle"/>
          </p:nvPr>
        </p:nvSpPr>
        <p:spPr>
          <a:xfrm>
            <a:off x="265500" y="2769001"/>
            <a:ext cx="4045200" cy="157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/>
        </p:txBody>
      </p:sp>
      <p:sp>
        <p:nvSpPr>
          <p:cNvPr id="46" name="Google Shape;46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" name="Google Shape;47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/>
          <p:nvPr>
            <p:ph idx="1" type="body"/>
          </p:nvPr>
        </p:nvSpPr>
        <p:spPr>
          <a:xfrm>
            <a:off x="319500" y="421892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/>
        </p:txBody>
      </p:sp>
      <p:sp>
        <p:nvSpPr>
          <p:cNvPr id="50" name="Google Shape;50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11"/>
          <p:cNvSpPr txBox="1"/>
          <p:nvPr>
            <p:ph hasCustomPrompt="1" type="title"/>
          </p:nvPr>
        </p:nvSpPr>
        <p:spPr>
          <a:xfrm>
            <a:off x="311700" y="957125"/>
            <a:ext cx="8520600" cy="21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/>
          <p:nvPr>
            <p:ph idx="1" type="body"/>
          </p:nvPr>
        </p:nvSpPr>
        <p:spPr>
          <a:xfrm>
            <a:off x="311700" y="3162000"/>
            <a:ext cx="8520600" cy="10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5" name="Google Shape;55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lux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b="0" i="0" sz="42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b="0" i="0" sz="42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b="0" i="0" sz="42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b="0" i="0" sz="42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b="0" i="0" sz="42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b="0" i="0" sz="42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b="0" i="0" sz="42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b="0" i="0" sz="42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b="0" i="0" sz="42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b="0" i="0" sz="18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b="0" i="0" sz="1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comments" Target="../comments/comment1.xml"/><Relationship Id="rId4" Type="http://schemas.openxmlformats.org/officeDocument/2006/relationships/image" Target="../media/image1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comments" Target="../comments/comment2.xml"/><Relationship Id="rId4" Type="http://schemas.openxmlformats.org/officeDocument/2006/relationships/image" Target="../media/image1.png"/><Relationship Id="rId5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comments" Target="../comments/comment3.xml"/><Relationship Id="rId4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comments" Target="../comments/comment4.xml"/><Relationship Id="rId4" Type="http://schemas.openxmlformats.org/officeDocument/2006/relationships/image" Target="../media/image1.png"/><Relationship Id="rId5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comments" Target="../comments/comment5.xml"/><Relationship Id="rId4" Type="http://schemas.openxmlformats.org/officeDocument/2006/relationships/image" Target="../media/image1.png"/><Relationship Id="rId5" Type="http://schemas.openxmlformats.org/officeDocument/2006/relationships/image" Target="../media/image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comments" Target="../comments/comment6.xml"/><Relationship Id="rId4" Type="http://schemas.openxmlformats.org/officeDocument/2006/relationships/image" Target="../media/image1.png"/><Relationship Id="rId5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comments" Target="../comments/comment7.xml"/><Relationship Id="rId4" Type="http://schemas.openxmlformats.org/officeDocument/2006/relationships/image" Target="../media/image1.png"/><Relationship Id="rId5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/>
          <p:nvPr>
            <p:ph idx="1" type="subTitle"/>
          </p:nvPr>
        </p:nvSpPr>
        <p:spPr>
          <a:xfrm>
            <a:off x="872550" y="3467050"/>
            <a:ext cx="5528700" cy="14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71"/>
              <a:buFont typeface="Arial"/>
              <a:buNone/>
            </a:pPr>
            <a:r>
              <a:t/>
            </a:r>
            <a:endParaRPr sz="1750"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71"/>
              <a:buFont typeface="Arial"/>
              <a:buNone/>
            </a:pPr>
            <a:r>
              <a:rPr lang="uk" sz="1750"/>
              <a:t>Головін </a:t>
            </a:r>
            <a:r>
              <a:rPr lang="uk" sz="1750"/>
              <a:t>Святослав </a:t>
            </a:r>
            <a:r>
              <a:rPr lang="uk" sz="1750"/>
              <a:t>Юрійович, ПЗПІ-22-1 </a:t>
            </a:r>
            <a:endParaRPr sz="1750"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71"/>
              <a:buFont typeface="Arial"/>
              <a:buNone/>
            </a:pPr>
            <a:r>
              <a:rPr lang="uk" sz="1750"/>
              <a:t>Керівник: доц. каф. ПІ Мельнікова Роксана Валеріївна</a:t>
            </a:r>
            <a:endParaRPr sz="175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5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71"/>
              <a:buFont typeface="Arial"/>
              <a:buNone/>
            </a:pPr>
            <a:r>
              <a:t/>
            </a:r>
            <a:endParaRPr sz="1750"/>
          </a:p>
        </p:txBody>
      </p:sp>
      <p:sp>
        <p:nvSpPr>
          <p:cNvPr id="63" name="Google Shape;63;p13"/>
          <p:cNvSpPr txBox="1"/>
          <p:nvPr>
            <p:ph type="ctrTitle"/>
          </p:nvPr>
        </p:nvSpPr>
        <p:spPr>
          <a:xfrm>
            <a:off x="2805450" y="821300"/>
            <a:ext cx="3281100" cy="147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2400"/>
              <a:t>Ве</a:t>
            </a:r>
            <a:r>
              <a:rPr lang="uk" sz="2400"/>
              <a:t>бс</a:t>
            </a:r>
            <a:r>
              <a:rPr lang="uk" sz="2400"/>
              <a:t>истема для мікрольорнінгу з елементами гейміфікації</a:t>
            </a:r>
            <a:endParaRPr sz="2400"/>
          </a:p>
        </p:txBody>
      </p:sp>
      <p:pic>
        <p:nvPicPr>
          <p:cNvPr id="64" name="Google Shape;64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04725" y="170825"/>
            <a:ext cx="2133975" cy="389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068504" y="170825"/>
            <a:ext cx="1924921" cy="439175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3"/>
          <p:cNvSpPr txBox="1"/>
          <p:nvPr>
            <p:ph idx="1" type="subTitle"/>
          </p:nvPr>
        </p:nvSpPr>
        <p:spPr>
          <a:xfrm>
            <a:off x="872550" y="4086900"/>
            <a:ext cx="5528700" cy="105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uk" sz="1600"/>
              <a:t>01 липня 2026</a:t>
            </a:r>
            <a:endParaRPr sz="16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idx="1" type="body"/>
          </p:nvPr>
        </p:nvSpPr>
        <p:spPr>
          <a:xfrm>
            <a:off x="311700" y="937425"/>
            <a:ext cx="8520600" cy="356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uk" sz="1400"/>
              <a:t>Розробити вебсистему мікрольорнінгу з елементами гейміфікації, яка забезпечує створення та проходження коротких навчальних одиниць, відстеження прогресу користувачів і підтримку мотивації протягом навчального процесу.</a:t>
            </a:r>
            <a:endParaRPr b="1" sz="14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b="1" sz="14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uk" sz="1400"/>
              <a:t>Актуальність роботи</a:t>
            </a:r>
            <a:endParaRPr b="1" sz="1400"/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Зростає потреба у зручних цифрових інструментах для організації навчання.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Традиційні освітні платформи часто потребують значних часових витрат і можуть знижувати мотивацію користувачів.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Мікрольорнінг дозволяє подавати матеріал короткими навчальними одиницями.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Гейміфікація через бейджі, серії активності, прогрес і сповіщення підтримує регулярність навчання.</a:t>
            </a:r>
            <a:endParaRPr sz="1400"/>
          </a:p>
        </p:txBody>
      </p:sp>
      <p:sp>
        <p:nvSpPr>
          <p:cNvPr id="73" name="Google Shape;73;p14"/>
          <p:cNvSpPr txBox="1"/>
          <p:nvPr>
            <p:ph type="title"/>
          </p:nvPr>
        </p:nvSpPr>
        <p:spPr>
          <a:xfrm>
            <a:off x="311700" y="0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3200"/>
              <a:t>Мета роботи</a:t>
            </a:r>
            <a:endParaRPr sz="3200"/>
          </a:p>
        </p:txBody>
      </p:sp>
      <p:pic>
        <p:nvPicPr>
          <p:cNvPr id="74" name="Google Shape;7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14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uk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5"/>
          <p:cNvSpPr txBox="1"/>
          <p:nvPr>
            <p:ph type="title"/>
          </p:nvPr>
        </p:nvSpPr>
        <p:spPr>
          <a:xfrm>
            <a:off x="311700" y="-124863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3200"/>
              <a:t>Аналіз проблеми (аналіз існуючих рішень) </a:t>
            </a:r>
            <a:endParaRPr sz="3200"/>
          </a:p>
        </p:txBody>
      </p:sp>
      <p:sp>
        <p:nvSpPr>
          <p:cNvPr id="81" name="Google Shape;81;p15"/>
          <p:cNvSpPr txBox="1"/>
          <p:nvPr>
            <p:ph idx="1" type="body"/>
          </p:nvPr>
        </p:nvSpPr>
        <p:spPr>
          <a:xfrm>
            <a:off x="311700" y="894750"/>
            <a:ext cx="4947900" cy="3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b="1" lang="uk" sz="1400"/>
              <a:t>Duolingo</a:t>
            </a:r>
            <a:r>
              <a:rPr lang="uk" sz="1400"/>
              <a:t> - мікроуроки, бали, рівні та серії активності.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b="1" lang="uk" sz="1400"/>
              <a:t>BetterMe</a:t>
            </a:r>
            <a:r>
              <a:rPr lang="uk" sz="1400"/>
              <a:t> - короткі завдання, персоналізація та нагадування.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b="1" lang="uk" sz="1400"/>
              <a:t>Headway</a:t>
            </a:r>
            <a:r>
              <a:rPr lang="uk" sz="1400"/>
              <a:t> - короткі текстові й аудіоматеріали для щоденного навчання.</a:t>
            </a:r>
            <a:endParaRPr sz="14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uk" sz="1400"/>
              <a:t>Основні прогалини аналогів</a:t>
            </a:r>
            <a:endParaRPr b="1" sz="1400"/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вузька тематична спрямованість;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обмежене створення власного контенту;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недостатня універсальність;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обмежена інтерактивність та аналітика;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залежність повного функціоналу від підписки.</a:t>
            </a:r>
            <a:endParaRPr sz="1400"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 sz="1400">
              <a:solidFill>
                <a:srgbClr val="0D0D0D"/>
              </a:solidFill>
              <a:highlight>
                <a:srgbClr val="FFFFFF"/>
              </a:highlight>
            </a:endParaRPr>
          </a:p>
        </p:txBody>
      </p:sp>
      <p:pic>
        <p:nvPicPr>
          <p:cNvPr id="82" name="Google Shape;8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5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uk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108400" y="889500"/>
            <a:ext cx="4038600" cy="3533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6"/>
          <p:cNvSpPr txBox="1"/>
          <p:nvPr>
            <p:ph idx="1" type="body"/>
          </p:nvPr>
        </p:nvSpPr>
        <p:spPr>
          <a:xfrm>
            <a:off x="311700" y="948688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uk" sz="1400"/>
              <a:t>Задача роботи:</a:t>
            </a:r>
            <a:br>
              <a:rPr b="1" lang="uk" sz="1400"/>
            </a:br>
            <a:r>
              <a:rPr lang="uk" sz="1400"/>
              <a:t>Розробити веб-систему мікрольорнінгу з елементами гейміфікації, що включає front end, back end і реляційну базу даних.</a:t>
            </a:r>
            <a:endParaRPr sz="14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uk" sz="1400"/>
              <a:t>Опис системи та очікувані результати:</a:t>
            </a:r>
            <a:endParaRPr b="1" sz="1400"/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три ролі користувачів: адміністратор, викладач, учень;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додавання курсів, уроків, </a:t>
            </a:r>
            <a:r>
              <a:rPr lang="uk" sz="1400"/>
              <a:t>транскрипцій</a:t>
            </a:r>
            <a:r>
              <a:rPr lang="uk" sz="1400"/>
              <a:t> і тестів;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проходження навчання та облік результатів;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відображення прогресу й аналітики;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бейджі, серії активності та WhatsApp-сповіщення.</a:t>
            </a:r>
            <a:endParaRPr sz="1400">
              <a:solidFill>
                <a:srgbClr val="0D0D0D"/>
              </a:solidFill>
              <a:highlight>
                <a:srgbClr val="FFFFFF"/>
              </a:highlight>
            </a:endParaRPr>
          </a:p>
        </p:txBody>
      </p:sp>
      <p:sp>
        <p:nvSpPr>
          <p:cNvPr id="90" name="Google Shape;90;p16"/>
          <p:cNvSpPr txBox="1"/>
          <p:nvPr>
            <p:ph type="title"/>
          </p:nvPr>
        </p:nvSpPr>
        <p:spPr>
          <a:xfrm>
            <a:off x="311700" y="-186276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3200"/>
              <a:t>Постановка задачі та опис системи</a:t>
            </a:r>
            <a:endParaRPr sz="3200"/>
          </a:p>
        </p:txBody>
      </p:sp>
      <p:pic>
        <p:nvPicPr>
          <p:cNvPr id="91" name="Google Shape;91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6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uk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7"/>
          <p:cNvSpPr txBox="1"/>
          <p:nvPr>
            <p:ph type="title"/>
          </p:nvPr>
        </p:nvSpPr>
        <p:spPr>
          <a:xfrm>
            <a:off x="311700" y="-148309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3200"/>
              <a:t>Вибір технологій розробки </a:t>
            </a:r>
            <a:endParaRPr sz="3200"/>
          </a:p>
        </p:txBody>
      </p:sp>
      <p:sp>
        <p:nvSpPr>
          <p:cNvPr id="98" name="Google Shape;98;p17"/>
          <p:cNvSpPr txBox="1"/>
          <p:nvPr>
            <p:ph idx="1" type="body"/>
          </p:nvPr>
        </p:nvSpPr>
        <p:spPr>
          <a:xfrm>
            <a:off x="311700" y="1225225"/>
            <a:ext cx="5360700" cy="3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uk" sz="1400"/>
              <a:t>У роботі використано сучасний стек веб-технологій:</a:t>
            </a:r>
            <a:endParaRPr sz="1400"/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b="1" lang="uk" sz="1400"/>
              <a:t>React.js</a:t>
            </a:r>
            <a:r>
              <a:rPr lang="uk" sz="1400"/>
              <a:t> - створення інтерактивного SPA-інтерфейсу;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b="1" lang="uk" sz="1400"/>
              <a:t>Node.js та Express.js</a:t>
            </a:r>
            <a:r>
              <a:rPr lang="uk" sz="1400"/>
              <a:t> - реалізація серверної логіки й API;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b="1" lang="uk" sz="1400"/>
              <a:t>PostgreSQL</a:t>
            </a:r>
            <a:r>
              <a:rPr lang="uk" sz="1400"/>
              <a:t> - зберігання даних користувачів, курсів, прогресу та гейміфікації;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b="1" lang="uk" sz="1400"/>
              <a:t>Shadcn/ui та Tailwind CSS</a:t>
            </a:r>
            <a:r>
              <a:rPr lang="uk" sz="1400"/>
              <a:t> - побудова сучасного й зручного інтерфейсу;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b="1" lang="uk" sz="1400"/>
              <a:t>Twilio API</a:t>
            </a:r>
            <a:r>
              <a:rPr lang="uk" sz="1400"/>
              <a:t> - надсилання WhatsApp-сповіщень;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b="1" lang="uk" sz="1400"/>
              <a:t>Vitest</a:t>
            </a:r>
            <a:r>
              <a:rPr lang="uk" sz="1400"/>
              <a:t> - модульне тестування front end частини.</a:t>
            </a:r>
            <a:endParaRPr sz="1400"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 sz="1400">
              <a:solidFill>
                <a:srgbClr val="0D0D0D"/>
              </a:solidFill>
              <a:highlight>
                <a:srgbClr val="FFFFFF"/>
              </a:highlight>
            </a:endParaRPr>
          </a:p>
        </p:txBody>
      </p:sp>
      <p:pic>
        <p:nvPicPr>
          <p:cNvPr id="99" name="Google Shape;99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7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uk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811050" y="1754003"/>
            <a:ext cx="3166800" cy="1781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8"/>
          <p:cNvSpPr txBox="1"/>
          <p:nvPr>
            <p:ph type="title"/>
          </p:nvPr>
        </p:nvSpPr>
        <p:spPr>
          <a:xfrm>
            <a:off x="268925" y="349659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3200"/>
              <a:t>Архітектура </a:t>
            </a:r>
            <a:r>
              <a:rPr lang="uk" sz="3200"/>
              <a:t>створеного</a:t>
            </a:r>
            <a:r>
              <a:rPr lang="uk" sz="3200"/>
              <a:t> програмного забезпечення</a:t>
            </a:r>
            <a:endParaRPr sz="3200"/>
          </a:p>
        </p:txBody>
      </p:sp>
      <p:sp>
        <p:nvSpPr>
          <p:cNvPr id="107" name="Google Shape;107;p18"/>
          <p:cNvSpPr txBox="1"/>
          <p:nvPr>
            <p:ph idx="1" type="body"/>
          </p:nvPr>
        </p:nvSpPr>
        <p:spPr>
          <a:xfrm>
            <a:off x="311625" y="1234100"/>
            <a:ext cx="3408300" cy="337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uk" sz="1400"/>
              <a:t>Система побудована за клієнт-серверною архітектурою та складається з таких компонентів:</a:t>
            </a:r>
            <a:endParaRPr sz="1400"/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b="1" lang="uk" sz="1400"/>
              <a:t>Клієнтська частина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b="1" lang="uk" sz="1400"/>
              <a:t>Серверна частина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b="1" lang="uk" sz="1400"/>
              <a:t>База даних PostgreSQL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b="1" lang="uk" sz="1400"/>
              <a:t>Зовнішній сервіс WhatsApp (Twilio API)</a:t>
            </a:r>
            <a:endParaRPr b="1" sz="1400"/>
          </a:p>
          <a:p>
            <a:pPr indent="0" lvl="0" marL="0" rtl="0" algn="l">
              <a:lnSpc>
                <a:spcPct val="115000"/>
              </a:lnSpc>
              <a:spcBef>
                <a:spcPts val="150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 sz="1400">
              <a:solidFill>
                <a:srgbClr val="0D0D0D"/>
              </a:solidFill>
              <a:highlight>
                <a:srgbClr val="FFFFFF"/>
              </a:highlight>
            </a:endParaRPr>
          </a:p>
        </p:txBody>
      </p:sp>
      <p:pic>
        <p:nvPicPr>
          <p:cNvPr id="108" name="Google Shape;108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8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uk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0" name="Google Shape;110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19866" y="1234111"/>
            <a:ext cx="5342443" cy="2675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idx="1" type="body"/>
          </p:nvPr>
        </p:nvSpPr>
        <p:spPr>
          <a:xfrm>
            <a:off x="311700" y="949800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uk" sz="1400"/>
              <a:t>Розробка програмного забезпечення виконувалася поетапно:</a:t>
            </a:r>
            <a:endParaRPr sz="1400"/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проєктування ролей користувачів: адміністратора, викладача та учня;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створення архітектури клієнт-серверної веб-системи;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проєктування реляційної бази даних для курсів, уроків, тестів, прогресу та гейміфікації;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реалізація серверної логіки: авторизації, керування курсами, тестування, прогресу й аналітики;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створення веб-інтерфейсів для кожної ролі користувача;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додавання мотиваційних механік: бейджів, серій активності та WhatsApp-сповіщень;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проведення модульного, інтеграційного та мануального тестування.</a:t>
            </a:r>
            <a:endParaRPr sz="1400">
              <a:solidFill>
                <a:srgbClr val="0D0D0D"/>
              </a:solidFill>
              <a:highlight>
                <a:srgbClr val="FFFFFF"/>
              </a:highlight>
            </a:endParaRPr>
          </a:p>
        </p:txBody>
      </p:sp>
      <p:sp>
        <p:nvSpPr>
          <p:cNvPr id="116" name="Google Shape;116;p19"/>
          <p:cNvSpPr txBox="1"/>
          <p:nvPr>
            <p:ph type="title"/>
          </p:nvPr>
        </p:nvSpPr>
        <p:spPr>
          <a:xfrm>
            <a:off x="311700" y="312400"/>
            <a:ext cx="8520600" cy="581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3200"/>
              <a:t>Етапи створення програмного забезпечення</a:t>
            </a:r>
            <a:endParaRPr sz="3200"/>
          </a:p>
        </p:txBody>
      </p:sp>
      <p:pic>
        <p:nvPicPr>
          <p:cNvPr id="117" name="Google Shape;11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9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uk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0"/>
          <p:cNvSpPr txBox="1"/>
          <p:nvPr>
            <p:ph type="title"/>
          </p:nvPr>
        </p:nvSpPr>
        <p:spPr>
          <a:xfrm>
            <a:off x="311700" y="-92038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3200"/>
              <a:t>Дизайн системи</a:t>
            </a:r>
            <a:endParaRPr sz="3200"/>
          </a:p>
        </p:txBody>
      </p:sp>
      <p:sp>
        <p:nvSpPr>
          <p:cNvPr id="124" name="Google Shape;124;p20"/>
          <p:cNvSpPr txBox="1"/>
          <p:nvPr>
            <p:ph idx="1" type="body"/>
          </p:nvPr>
        </p:nvSpPr>
        <p:spPr>
          <a:xfrm>
            <a:off x="311700" y="739250"/>
            <a:ext cx="4563000" cy="3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uk" sz="1200"/>
              <a:t>Методи проєктування:</a:t>
            </a:r>
            <a:endParaRPr b="1" sz="1200"/>
          </a:p>
          <a:p>
            <a:pPr indent="-304800" lvl="0" marL="457200" rtl="0" algn="l">
              <a:spcBef>
                <a:spcPts val="1200"/>
              </a:spcBef>
              <a:spcAft>
                <a:spcPts val="0"/>
              </a:spcAft>
              <a:buSzPts val="1200"/>
              <a:buFont typeface="Open Sans"/>
              <a:buChar char="●"/>
            </a:pPr>
            <a:r>
              <a:rPr lang="uk" sz="1200"/>
              <a:t>розмежування інтерфейсів за ролями користувачів;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Font typeface="Open Sans"/>
              <a:buChar char="●"/>
            </a:pPr>
            <a:r>
              <a:rPr lang="uk" sz="1200"/>
              <a:t>логічне групування функцій за розділами;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Font typeface="Open Sans"/>
              <a:buChar char="●"/>
            </a:pPr>
            <a:r>
              <a:rPr lang="uk" sz="1200"/>
              <a:t>використання бокової навігації;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Font typeface="Open Sans"/>
              <a:buChar char="●"/>
            </a:pPr>
            <a:r>
              <a:rPr lang="uk" sz="1200"/>
              <a:t>візуальне виділення ключових дій, статусів і прогресу.</a:t>
            </a:r>
            <a:endParaRPr sz="12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uk" sz="1200"/>
              <a:t>Послідовність розробки дизайну:</a:t>
            </a:r>
            <a:endParaRPr b="1" sz="1200"/>
          </a:p>
          <a:p>
            <a:pPr indent="-304800" lvl="0" marL="457200" rtl="0" algn="l">
              <a:spcBef>
                <a:spcPts val="1200"/>
              </a:spcBef>
              <a:spcAft>
                <a:spcPts val="0"/>
              </a:spcAft>
              <a:buSzPts val="1200"/>
              <a:buFont typeface="Open Sans"/>
              <a:buChar char="●"/>
            </a:pPr>
            <a:r>
              <a:rPr lang="uk" sz="1200"/>
              <a:t>визначення основних сценаріїв для адміністратора, викладача та учня;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Font typeface="Open Sans"/>
              <a:buChar char="●"/>
            </a:pPr>
            <a:r>
              <a:rPr lang="uk" sz="1200"/>
              <a:t>створення структури сторінок і навігації;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Font typeface="Open Sans"/>
              <a:buChar char="●"/>
            </a:pPr>
            <a:r>
              <a:rPr lang="uk" sz="1200"/>
              <a:t>розробка інтерфейсів для курсів, уроків, прогресу, аналітики та налаштувань;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Font typeface="Open Sans"/>
              <a:buChar char="●"/>
            </a:pPr>
            <a:r>
              <a:rPr lang="uk" sz="1200"/>
              <a:t>перевірка зручності виконання основних дій.</a:t>
            </a:r>
            <a:endParaRPr sz="12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sz="1200"/>
          </a:p>
        </p:txBody>
      </p:sp>
      <p:pic>
        <p:nvPicPr>
          <p:cNvPr id="125" name="Google Shape;125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0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uk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7" name="Google Shape;127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811850" y="851450"/>
            <a:ext cx="4250450" cy="3129600"/>
          </a:xfrm>
          <a:prstGeom prst="rect">
            <a:avLst/>
          </a:prstGeom>
          <a:noFill/>
          <a:ln cap="flat" cmpd="sng" w="28575">
            <a:solidFill>
              <a:srgbClr val="000000"/>
            </a:solidFill>
            <a:prstDash val="dash"/>
            <a:round/>
            <a:headEnd len="sm" w="sm" type="none"/>
            <a:tailEnd len="sm" w="sm" type="none"/>
          </a:ln>
        </p:spPr>
      </p:pic>
      <p:sp>
        <p:nvSpPr>
          <p:cNvPr id="128" name="Google Shape;128;p20"/>
          <p:cNvSpPr txBox="1"/>
          <p:nvPr/>
        </p:nvSpPr>
        <p:spPr>
          <a:xfrm>
            <a:off x="1375275" y="4147150"/>
            <a:ext cx="3000000" cy="79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uk"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Технології:</a:t>
            </a:r>
            <a:br>
              <a:rPr b="1" lang="uk"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</a:br>
            <a:r>
              <a:rPr lang="uk"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Shadcn/ui, Tailwind CSS, додаткові стилі.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1"/>
          <p:cNvSpPr txBox="1"/>
          <p:nvPr>
            <p:ph type="title"/>
          </p:nvPr>
        </p:nvSpPr>
        <p:spPr>
          <a:xfrm>
            <a:off x="268925" y="-152998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3200"/>
              <a:t>Приклад </a:t>
            </a:r>
            <a:r>
              <a:rPr lang="uk" sz="3200"/>
              <a:t>реалізації</a:t>
            </a:r>
            <a:endParaRPr sz="3200"/>
          </a:p>
        </p:txBody>
      </p:sp>
      <p:sp>
        <p:nvSpPr>
          <p:cNvPr id="134" name="Google Shape;134;p21"/>
          <p:cNvSpPr txBox="1"/>
          <p:nvPr>
            <p:ph idx="1" type="body"/>
          </p:nvPr>
        </p:nvSpPr>
        <p:spPr>
          <a:xfrm>
            <a:off x="339225" y="1005500"/>
            <a:ext cx="3600300" cy="3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rPr lang="uk" sz="1600"/>
              <a:t>Фрагмент коду демонструє оновлення серії активності користувача. Якщо користувач уже був активним сьогодні, серія не змінюється. Якщо остання активність була вчора - серія збільшується на один день. Якщо між активностями був пропуск, серія починається заново.</a:t>
            </a:r>
            <a:endParaRPr sz="1600"/>
          </a:p>
        </p:txBody>
      </p:sp>
      <p:pic>
        <p:nvPicPr>
          <p:cNvPr id="135" name="Google Shape;135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21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uk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7" name="Google Shape;137;p2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02500" y="841450"/>
            <a:ext cx="4729801" cy="346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2"/>
          <p:cNvSpPr txBox="1"/>
          <p:nvPr>
            <p:ph type="title"/>
          </p:nvPr>
        </p:nvSpPr>
        <p:spPr>
          <a:xfrm>
            <a:off x="268925" y="-143620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3200"/>
              <a:t>Інтерфейс користувача </a:t>
            </a:r>
            <a:endParaRPr sz="3200"/>
          </a:p>
        </p:txBody>
      </p:sp>
      <p:pic>
        <p:nvPicPr>
          <p:cNvPr id="143" name="Google Shape;143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22"/>
          <p:cNvSpPr txBox="1"/>
          <p:nvPr/>
        </p:nvSpPr>
        <p:spPr>
          <a:xfrm>
            <a:off x="8629055" y="4606350"/>
            <a:ext cx="433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uk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5" name="Google Shape;145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928754" y="838200"/>
            <a:ext cx="5286493" cy="3768150"/>
          </a:xfrm>
          <a:prstGeom prst="rect">
            <a:avLst/>
          </a:prstGeom>
          <a:noFill/>
          <a:ln cap="flat" cmpd="sng" w="28575">
            <a:solidFill>
              <a:srgbClr val="000000"/>
            </a:solidFill>
            <a:prstDash val="dash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3"/>
          <p:cNvSpPr txBox="1"/>
          <p:nvPr>
            <p:ph type="title"/>
          </p:nvPr>
        </p:nvSpPr>
        <p:spPr>
          <a:xfrm>
            <a:off x="268925" y="-143620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3200"/>
              <a:t>Інтерфейс користувача </a:t>
            </a:r>
            <a:endParaRPr sz="3200"/>
          </a:p>
        </p:txBody>
      </p:sp>
      <p:pic>
        <p:nvPicPr>
          <p:cNvPr id="151" name="Google Shape;15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3"/>
          <p:cNvSpPr txBox="1"/>
          <p:nvPr/>
        </p:nvSpPr>
        <p:spPr>
          <a:xfrm>
            <a:off x="8587799" y="4606350"/>
            <a:ext cx="474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uk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3" name="Google Shape;153;p2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31175" y="764800"/>
            <a:ext cx="7483525" cy="3528075"/>
          </a:xfrm>
          <a:prstGeom prst="rect">
            <a:avLst/>
          </a:prstGeom>
          <a:noFill/>
          <a:ln cap="flat" cmpd="sng" w="28575">
            <a:solidFill>
              <a:schemeClr val="dk1"/>
            </a:solidFill>
            <a:prstDash val="dash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4"/>
          <p:cNvSpPr txBox="1"/>
          <p:nvPr>
            <p:ph type="title"/>
          </p:nvPr>
        </p:nvSpPr>
        <p:spPr>
          <a:xfrm>
            <a:off x="268925" y="-143620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3200"/>
              <a:t>Тестування</a:t>
            </a:r>
            <a:endParaRPr sz="3200"/>
          </a:p>
        </p:txBody>
      </p:sp>
      <p:pic>
        <p:nvPicPr>
          <p:cNvPr id="159" name="Google Shape;159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4"/>
          <p:cNvSpPr txBox="1"/>
          <p:nvPr/>
        </p:nvSpPr>
        <p:spPr>
          <a:xfrm>
            <a:off x="8670328" y="4647175"/>
            <a:ext cx="392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uk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61" name="Google Shape;161;p24"/>
          <p:cNvGraphicFramePr/>
          <p:nvPr/>
        </p:nvGraphicFramePr>
        <p:xfrm>
          <a:off x="952500" y="10911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{F1F93A64-311C-41A1-828B-61A8842F337F}</a:tableStyleId>
              </a:tblPr>
              <a:tblGrid>
                <a:gridCol w="2413000"/>
                <a:gridCol w="2413000"/>
                <a:gridCol w="24130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uk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Вид тестування</a:t>
                      </a:r>
                      <a:endParaRPr b="1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uk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Що перевірялося</a:t>
                      </a:r>
                      <a:endParaRPr b="1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uk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Результат</a:t>
                      </a:r>
                      <a:endParaRPr b="1"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Модульне тестування</a:t>
                      </a:r>
                      <a:endParaRPr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Окремі функції клієнтської частини, обробка даних та станів</a:t>
                      </a:r>
                      <a:endParaRPr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Функції працюють коректно</a:t>
                      </a:r>
                      <a:endParaRPr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Інтеграційне тестування</a:t>
                      </a:r>
                      <a:endParaRPr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Маршрути back end, авторизація, взаємодія з моделями даних</a:t>
                      </a:r>
                      <a:endParaRPr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Запити обробляються правильно</a:t>
                      </a:r>
                      <a:endParaRPr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Мануальне тестування</a:t>
                      </a:r>
                      <a:endParaRPr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Основні сценарії для учня, викладача й адміністратора</a:t>
                      </a:r>
                      <a:endParaRPr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"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Сценарії виконуються успішно</a:t>
                      </a:r>
                      <a:endParaRPr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5"/>
          <p:cNvSpPr txBox="1"/>
          <p:nvPr>
            <p:ph idx="1" type="body"/>
          </p:nvPr>
        </p:nvSpPr>
        <p:spPr>
          <a:xfrm>
            <a:off x="311700" y="1225225"/>
            <a:ext cx="3352800" cy="3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uk" sz="1600"/>
              <a:t>Результати кваліфікаційної роботи були представлені та опубліковані як тези на конференції </a:t>
            </a:r>
            <a:r>
              <a:rPr b="1" lang="uk" sz="1600"/>
              <a:t>MIT&amp;AISs-2026</a:t>
            </a:r>
            <a:r>
              <a:rPr lang="uk" sz="1600"/>
              <a:t>.</a:t>
            </a:r>
            <a:endParaRPr sz="1600"/>
          </a:p>
        </p:txBody>
      </p:sp>
      <p:sp>
        <p:nvSpPr>
          <p:cNvPr id="167" name="Google Shape;167;p25"/>
          <p:cNvSpPr txBox="1"/>
          <p:nvPr>
            <p:ph type="title"/>
          </p:nvPr>
        </p:nvSpPr>
        <p:spPr>
          <a:xfrm>
            <a:off x="268925" y="-186276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3200"/>
              <a:t>Публікація результатів </a:t>
            </a:r>
            <a:endParaRPr sz="3200"/>
          </a:p>
        </p:txBody>
      </p:sp>
      <p:pic>
        <p:nvPicPr>
          <p:cNvPr id="168" name="Google Shape;168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25"/>
          <p:cNvSpPr txBox="1"/>
          <p:nvPr/>
        </p:nvSpPr>
        <p:spPr>
          <a:xfrm>
            <a:off x="8615305" y="4660950"/>
            <a:ext cx="447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uk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0" name="Google Shape;170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64500" y="802613"/>
            <a:ext cx="5116525" cy="3700726"/>
          </a:xfrm>
          <a:prstGeom prst="rect">
            <a:avLst/>
          </a:prstGeom>
          <a:noFill/>
          <a:ln cap="flat" cmpd="sng" w="28575">
            <a:solidFill>
              <a:schemeClr val="dk1"/>
            </a:solidFill>
            <a:prstDash val="dash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6"/>
          <p:cNvSpPr txBox="1"/>
          <p:nvPr>
            <p:ph type="title"/>
          </p:nvPr>
        </p:nvSpPr>
        <p:spPr>
          <a:xfrm>
            <a:off x="311700" y="-35287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" sz="3200"/>
              <a:t>Підсумки </a:t>
            </a:r>
            <a:endParaRPr sz="3200"/>
          </a:p>
        </p:txBody>
      </p:sp>
      <p:sp>
        <p:nvSpPr>
          <p:cNvPr id="176" name="Google Shape;176;p26"/>
          <p:cNvSpPr txBox="1"/>
          <p:nvPr>
            <p:ph idx="1" type="body"/>
          </p:nvPr>
        </p:nvSpPr>
        <p:spPr>
          <a:xfrm>
            <a:off x="311700" y="900750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853"/>
              <a:buFont typeface="Arial"/>
              <a:buNone/>
            </a:pPr>
            <a:r>
              <a:rPr lang="uk" sz="1400"/>
              <a:t>У результаті роботи розроблено веб-систему мікрольорнінгу з елементами гейміфікації, що включає front end, back end і реляційну базу даних.</a:t>
            </a:r>
            <a:endParaRPr sz="140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853"/>
              <a:buFont typeface="Arial"/>
              <a:buNone/>
            </a:pPr>
            <a:r>
              <a:rPr b="1" lang="uk" sz="1400"/>
              <a:t>Основні результати:</a:t>
            </a:r>
            <a:endParaRPr b="1" sz="1400"/>
          </a:p>
          <a:p>
            <a:pPr indent="-317500" lvl="0" marL="45720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реалізовано ролі адміністратора, викладача та учня;</a:t>
            </a:r>
            <a:endParaRPr sz="1400"/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забезпечено створення й проходження навчальних курсів;</a:t>
            </a:r>
            <a:endParaRPr sz="1400"/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додано облік прогресу, аналітику, бейджі, серії активності та WhatsApp-сповіщення.</a:t>
            </a:r>
            <a:endParaRPr sz="140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853"/>
              <a:buNone/>
            </a:pPr>
            <a:r>
              <a:rPr b="1" lang="uk" sz="1400"/>
              <a:t>Основною можливістю для використання є самоосвіта</a:t>
            </a:r>
            <a:endParaRPr sz="1400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853"/>
              <a:buFont typeface="Arial"/>
              <a:buNone/>
            </a:pPr>
            <a:r>
              <a:rPr b="1" lang="uk" sz="1400"/>
              <a:t>Можливий розвиток:</a:t>
            </a:r>
            <a:endParaRPr b="1" sz="1400"/>
          </a:p>
          <a:p>
            <a:pPr indent="-317500" lvl="0" marL="45720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розширення аналітики;</a:t>
            </a:r>
            <a:endParaRPr sz="1400"/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Open Sans"/>
              <a:buChar char="●"/>
            </a:pPr>
            <a:r>
              <a:rPr lang="uk" sz="1400"/>
              <a:t>додавання нових типів контенту та методів самоперевірки.</a:t>
            </a:r>
            <a:endParaRPr sz="1400"/>
          </a:p>
          <a:p>
            <a:pPr indent="0" lvl="0" marL="0" rtl="0" algn="l">
              <a:lnSpc>
                <a:spcPct val="140000"/>
              </a:lnSpc>
              <a:spcBef>
                <a:spcPts val="1200"/>
              </a:spcBef>
              <a:spcAft>
                <a:spcPts val="0"/>
              </a:spcAft>
              <a:buSzPts val="1395"/>
              <a:buNone/>
            </a:pPr>
            <a:r>
              <a:t/>
            </a:r>
            <a:endParaRPr sz="1400"/>
          </a:p>
        </p:txBody>
      </p:sp>
      <p:pic>
        <p:nvPicPr>
          <p:cNvPr id="177" name="Google Shape;177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26"/>
          <p:cNvSpPr txBox="1"/>
          <p:nvPr/>
        </p:nvSpPr>
        <p:spPr>
          <a:xfrm>
            <a:off x="8656578" y="4660950"/>
            <a:ext cx="4056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uk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Шаблон презентації кваліфікаційної роботи магістрів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57BB8A"/>
      </a:accent3>
      <a:accent4>
        <a:srgbClr val="78909C"/>
      </a:accent4>
      <a:accent5>
        <a:srgbClr val="607D8B"/>
      </a:accent5>
      <a:accent6>
        <a:srgbClr val="DCE755"/>
      </a:accent6>
      <a:hlink>
        <a:srgbClr val="607D8B"/>
      </a:hlink>
      <a:folHlink>
        <a:srgbClr val="607D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